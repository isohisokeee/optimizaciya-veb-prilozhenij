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08" autoAdjust="0"/>
    <p:restoredTop sz="98336" autoAdjust="0"/>
  </p:normalViewPr>
  <p:slideViewPr>
    <p:cSldViewPr>
      <p:cViewPr varScale="1">
        <p:scale>
          <a:sx n="108" d="100"/>
          <a:sy n="108" d="100"/>
        </p:scale>
        <p:origin x="21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1700808"/>
            <a:ext cx="8352928" cy="3937992"/>
          </a:xfrm>
        </p:spPr>
        <p:txBody>
          <a:bodyPr>
            <a:normAutofit/>
          </a:bodyPr>
          <a:lstStyle/>
          <a:p>
            <a:r>
              <a:rPr lang="ru-RU" sz="6600" dirty="0" err="1">
                <a:solidFill>
                  <a:schemeClr val="tx1"/>
                </a:solidFill>
              </a:rPr>
              <a:t>Юзабилити</a:t>
            </a:r>
            <a:r>
              <a:rPr lang="ru-RU" sz="6600" dirty="0">
                <a:solidFill>
                  <a:schemeClr val="tx1"/>
                </a:solidFill>
              </a:rPr>
              <a:t>-аудит сайта</a:t>
            </a:r>
          </a:p>
        </p:txBody>
      </p:sp>
    </p:spTree>
    <p:extLst>
      <p:ext uri="{BB962C8B-B14F-4D97-AF65-F5344CB8AC3E}">
        <p14:creationId xmlns:p14="http://schemas.microsoft.com/office/powerpoint/2010/main" val="298744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40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Юзабилити — это степень, с которой веб-сайт может быть использован определенными пользователями для достижения определенных целей в определенном контексте использования с должной эффективностью, продуктивностью и удовлетворенностью</a:t>
            </a:r>
          </a:p>
        </p:txBody>
      </p:sp>
    </p:spTree>
    <p:extLst>
      <p:ext uri="{BB962C8B-B14F-4D97-AF65-F5344CB8AC3E}">
        <p14:creationId xmlns:p14="http://schemas.microsoft.com/office/powerpoint/2010/main" val="258656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</a:t>
            </a:r>
            <a:r>
              <a:rPr lang="ru-RU" dirty="0" err="1"/>
              <a:t>юзабилити</a:t>
            </a:r>
            <a:r>
              <a:rPr lang="ru-RU" dirty="0"/>
              <a:t>-характеристики вашего сайта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84784"/>
            <a:ext cx="8784976" cy="5256584"/>
          </a:xfrm>
        </p:spPr>
        <p:txBody>
          <a:bodyPr>
            <a:normAutofit lnSpcReduction="10000"/>
          </a:bodyPr>
          <a:lstStyle/>
          <a:p>
            <a:pPr fontAlgn="base"/>
            <a:r>
              <a:rPr lang="ru-RU" dirty="0"/>
              <a:t>Среднее время, которое требуется пользователю для достижения своей цели на веб-сайте.</a:t>
            </a:r>
          </a:p>
          <a:p>
            <a:pPr fontAlgn="base"/>
            <a:r>
              <a:rPr lang="ru-RU" dirty="0"/>
              <a:t>Количество ошибок, которые совершают пользователи при достижении своих целей на вашем веб-сайте.</a:t>
            </a:r>
          </a:p>
          <a:p>
            <a:pPr fontAlgn="base"/>
            <a:r>
              <a:rPr lang="ru-RU" dirty="0"/>
              <a:t>Скорость обучения на вашем веб-сайте.</a:t>
            </a:r>
          </a:p>
          <a:p>
            <a:pPr fontAlgn="base"/>
            <a:r>
              <a:rPr lang="ru-RU" dirty="0"/>
              <a:t>Запоминаемость.</a:t>
            </a:r>
          </a:p>
          <a:p>
            <a:pPr fontAlgn="base"/>
            <a:r>
              <a:rPr lang="ru-RU" dirty="0"/>
              <a:t>Степень удовлетворенности пользователей от взаимодействия с веб-сайтом и другие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54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404664"/>
            <a:ext cx="8640960" cy="6192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 err="1"/>
              <a:t>Юзабилити</a:t>
            </a:r>
            <a:r>
              <a:rPr lang="ru-RU" sz="4400" dirty="0"/>
              <a:t>-аудит — это экспертный анализ существующего интерфейса, или прототипа сайта, или приложения, который выявляет основные проблемы, возникающие у пользователя при взаимодействии с ним</a:t>
            </a:r>
            <a:r>
              <a:rPr lang="ru-RU" sz="4400" dirty="0" smtClean="0"/>
              <a:t>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1480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Что можно получить в результате качественного юзабилити-аудита</a:t>
            </a:r>
            <a:r>
              <a:rPr lang="ru-RU" b="1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556792"/>
            <a:ext cx="8928992" cy="5184576"/>
          </a:xfrm>
        </p:spPr>
        <p:txBody>
          <a:bodyPr>
            <a:normAutofit/>
          </a:bodyPr>
          <a:lstStyle/>
          <a:p>
            <a:pPr lvl="0" fontAlgn="base"/>
            <a:r>
              <a:rPr lang="ru-RU" dirty="0"/>
              <a:t>Узнать, есть ли возможность увеличения дохода за счет улучшения сайта.</a:t>
            </a:r>
          </a:p>
          <a:p>
            <a:pPr lvl="0" fontAlgn="base"/>
            <a:r>
              <a:rPr lang="ru-RU" dirty="0"/>
              <a:t>Увидеть точки снижения конверсии и узнать, почему клиенты уходят.</a:t>
            </a:r>
          </a:p>
          <a:p>
            <a:pPr lvl="0" fontAlgn="base"/>
            <a:r>
              <a:rPr lang="ru-RU" dirty="0"/>
              <a:t>Составить список проблем с приоритетами и рекомендации, как их устранить.</a:t>
            </a:r>
          </a:p>
          <a:p>
            <a:pPr lvl="0" fontAlgn="base"/>
            <a:r>
              <a:rPr lang="ru-RU" dirty="0"/>
              <a:t>Получить план развития вашего сайта.</a:t>
            </a:r>
          </a:p>
          <a:p>
            <a:pPr lvl="0" fontAlgn="base"/>
            <a:r>
              <a:rPr lang="ru-RU" dirty="0"/>
              <a:t>Сократить количество ушедших без покупки клиентов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740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Конверсия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84784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/>
              <a:t>доля </a:t>
            </a:r>
            <a:r>
              <a:rPr lang="ru-RU" sz="4800" dirty="0"/>
              <a:t>визитов на ваш сайт, в </a:t>
            </a:r>
            <a:r>
              <a:rPr lang="ru-RU" sz="4800" dirty="0" smtClean="0"/>
              <a:t>ходе которых</a:t>
            </a:r>
            <a:r>
              <a:rPr lang="ru-RU" sz="4800" dirty="0"/>
              <a:t> </a:t>
            </a:r>
            <a:r>
              <a:rPr lang="ru-RU" sz="4800" b="1" dirty="0"/>
              <a:t>посетители</a:t>
            </a:r>
            <a:r>
              <a:rPr lang="ru-RU" sz="4800" dirty="0"/>
              <a:t> совершили целевое 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227881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7260"/>
            <a:ext cx="8229600" cy="68543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Этапы юзабилити-аудита: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517946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1. Внутрикорпоративное исследование и анализ </a:t>
            </a:r>
            <a:r>
              <a:rPr lang="ru-RU" dirty="0" smtClean="0"/>
              <a:t>статистики</a:t>
            </a:r>
            <a:endParaRPr lang="ru-RU" dirty="0"/>
          </a:p>
        </p:txBody>
      </p:sp>
      <p:pic>
        <p:nvPicPr>
          <p:cNvPr id="4" name="Рисунок 3" descr="Кейс “Лаборкомплект” – продажа лабораторного оборудования. Бизнес-цели для юзабилити-аудит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712968" cy="36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499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2. Описание кластеров целевой аудитории, цели и </a:t>
            </a:r>
            <a:r>
              <a:rPr lang="ru-RU" dirty="0" smtClean="0"/>
              <a:t>потребности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Пример краткого описания персонажа из кейса “Росгосцирк” – сайт цирка. Юзабилити-аудит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9144000" cy="55892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107504" y="6165304"/>
            <a:ext cx="90364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Пример краткого описания персонажа для юзабилити-аудита из кейса “Росгосцирк” – сайт цирка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18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Кейс “Лаборкомплект”. Деление ЦА для юзабилити-аудит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17024" cy="67413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915816" y="6488668"/>
            <a:ext cx="3827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/>
              <a:t>Кейс “</a:t>
            </a:r>
            <a:r>
              <a:rPr lang="ru-RU" i="1" dirty="0" err="1"/>
              <a:t>Лаборкомплект</a:t>
            </a:r>
            <a:r>
              <a:rPr lang="ru-RU" i="1" dirty="0"/>
              <a:t>”. Деление ЦА.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20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Описание </a:t>
            </a:r>
            <a:r>
              <a:rPr lang="ru-RU" dirty="0"/>
              <a:t>персонажа включает в себя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5904656"/>
          </a:xfrm>
        </p:spPr>
        <p:txBody>
          <a:bodyPr>
            <a:normAutofit/>
          </a:bodyPr>
          <a:lstStyle/>
          <a:p>
            <a:pPr lvl="0" fontAlgn="base"/>
            <a:r>
              <a:rPr lang="ru-RU" dirty="0"/>
              <a:t>Цели персонажа</a:t>
            </a:r>
          </a:p>
          <a:p>
            <a:pPr lvl="0" fontAlgn="base"/>
            <a:r>
              <a:rPr lang="ru-RU" dirty="0"/>
              <a:t>Потребности</a:t>
            </a:r>
          </a:p>
          <a:p>
            <a:pPr lvl="0" fontAlgn="base"/>
            <a:r>
              <a:rPr lang="ru-RU" dirty="0"/>
              <a:t>Социальное положение</a:t>
            </a:r>
          </a:p>
          <a:p>
            <a:pPr lvl="0" fontAlgn="base"/>
            <a:r>
              <a:rPr lang="ru-RU" dirty="0"/>
              <a:t>Описание рабочего процесса</a:t>
            </a:r>
          </a:p>
          <a:p>
            <a:pPr lvl="0" fontAlgn="base"/>
            <a:r>
              <a:rPr lang="ru-RU" dirty="0"/>
              <a:t>Описание окружения</a:t>
            </a:r>
          </a:p>
          <a:p>
            <a:pPr lvl="0" fontAlgn="base"/>
            <a:r>
              <a:rPr lang="ru-RU" dirty="0"/>
              <a:t>Уровень знаний в предметной области</a:t>
            </a:r>
          </a:p>
          <a:p>
            <a:pPr lvl="0" fontAlgn="base"/>
            <a:r>
              <a:rPr lang="ru-RU" dirty="0"/>
              <a:t>Неудовлетворённости и ожидания</a:t>
            </a:r>
          </a:p>
          <a:p>
            <a:pPr lvl="0" fontAlgn="base"/>
            <a:r>
              <a:rPr lang="ru-RU" dirty="0"/>
              <a:t>Описание его личной </a:t>
            </a:r>
            <a:r>
              <a:rPr lang="ru-RU" dirty="0" smtClean="0"/>
              <a:t>истории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306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Пример фрагмента описания потребностей и вопросов персонажа из кейса “НоваКид” – сервис обучения детей английскому языку. Юзабилити-аудит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-18153"/>
            <a:ext cx="8568952" cy="58347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107504" y="6170033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i="1" dirty="0"/>
              <a:t>Пример фрагмента описания потребностей и вопросов персонажа для юзабилити-аудита из кейса “</a:t>
            </a:r>
            <a:r>
              <a:rPr lang="ru-RU" i="1" dirty="0" err="1"/>
              <a:t>НоваКид</a:t>
            </a:r>
            <a:r>
              <a:rPr lang="ru-RU" i="1" dirty="0"/>
              <a:t>” – сервис обучения детей английскому языку.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931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62" y="0"/>
            <a:ext cx="9129137" cy="692696"/>
          </a:xfrm>
        </p:spPr>
        <p:txBody>
          <a:bodyPr>
            <a:normAutofit/>
          </a:bodyPr>
          <a:lstStyle/>
          <a:p>
            <a:r>
              <a:rPr lang="ru-RU" sz="3200" dirty="0"/>
              <a:t>3. Разработка сценариев для </a:t>
            </a:r>
            <a:r>
              <a:rPr lang="ru-RU" sz="3200" dirty="0" smtClean="0"/>
              <a:t>юзабилити-аудита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928992" cy="6093296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b="1" dirty="0"/>
              <a:t>Пример списка сценариев для юзабилити-аудита интернет-магазина:</a:t>
            </a:r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/>
              <a:t>Первое знакомство с сайтом </a:t>
            </a:r>
            <a:endParaRPr lang="ru-RU" dirty="0" smtClean="0"/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 smtClean="0"/>
              <a:t>Поиск </a:t>
            </a:r>
            <a:r>
              <a:rPr lang="ru-RU" dirty="0"/>
              <a:t>определенного товара </a:t>
            </a:r>
            <a:endParaRPr lang="ru-RU" dirty="0" smtClean="0"/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 smtClean="0"/>
              <a:t>Поиск </a:t>
            </a:r>
            <a:r>
              <a:rPr lang="ru-RU" dirty="0"/>
              <a:t>товара по заданным критериям </a:t>
            </a:r>
            <a:endParaRPr lang="ru-RU" dirty="0" smtClean="0"/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 smtClean="0"/>
              <a:t>Принятие </a:t>
            </a:r>
            <a:r>
              <a:rPr lang="ru-RU" dirty="0"/>
              <a:t>решения о покупке именно в этом интернет-магазине </a:t>
            </a:r>
            <a:endParaRPr lang="ru-RU" dirty="0" smtClean="0"/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 smtClean="0"/>
              <a:t>Выяснение </a:t>
            </a:r>
            <a:r>
              <a:rPr lang="ru-RU" dirty="0"/>
              <a:t>условий оплаты и доставки до оформления заказа.</a:t>
            </a:r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/>
              <a:t>Заказ товара.</a:t>
            </a:r>
          </a:p>
          <a:p>
            <a:pPr marL="514350" lvl="0" indent="-514350" fontAlgn="base">
              <a:buFont typeface="+mj-lt"/>
              <a:buAutoNum type="arabicParenR"/>
            </a:pPr>
            <a:r>
              <a:rPr lang="ru-RU" dirty="0"/>
              <a:t>Положительный отзыв о товаре, магазине после покупки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23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Пример описания сценария из юзабилити-аудита сайта “НоваКид” – сервис обучения детей английскому языку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-29979"/>
            <a:ext cx="6048672" cy="62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107504" y="6211669"/>
            <a:ext cx="8766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i="1" dirty="0"/>
              <a:t>Пример описания сценария из юзабилити-аудита сайта “</a:t>
            </a:r>
            <a:r>
              <a:rPr lang="ru-RU" i="1" dirty="0" err="1"/>
              <a:t>НоваКид</a:t>
            </a:r>
            <a:r>
              <a:rPr lang="ru-RU" i="1" dirty="0"/>
              <a:t>” – сервис обучения детей английскому языку.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67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Методики оценки </a:t>
            </a:r>
            <a:r>
              <a:rPr lang="ru-RU" dirty="0"/>
              <a:t>качества юзабилити-характеристик </a:t>
            </a:r>
            <a:r>
              <a:rPr lang="ru-RU" dirty="0" smtClean="0"/>
              <a:t>сайта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Heuristic</a:t>
            </a:r>
            <a:r>
              <a:rPr lang="ru-RU" dirty="0"/>
              <a:t> </a:t>
            </a:r>
            <a:r>
              <a:rPr lang="ru-RU" dirty="0" err="1"/>
              <a:t>Evaluation</a:t>
            </a:r>
            <a:r>
              <a:rPr lang="ru-RU" dirty="0"/>
              <a:t> (Эвристическая оценка</a:t>
            </a:r>
            <a:r>
              <a:rPr lang="ru-RU" dirty="0" smtClean="0"/>
              <a:t>) - </a:t>
            </a:r>
            <a:r>
              <a:rPr lang="ru-RU" dirty="0" err="1" smtClean="0"/>
              <a:t>интерфес</a:t>
            </a:r>
            <a:endParaRPr lang="ru-RU" b="1" dirty="0"/>
          </a:p>
          <a:p>
            <a:r>
              <a:rPr lang="ru-RU" dirty="0" err="1"/>
              <a:t>Heuristic</a:t>
            </a:r>
            <a:r>
              <a:rPr lang="ru-RU" dirty="0"/>
              <a:t> </a:t>
            </a:r>
            <a:r>
              <a:rPr lang="ru-RU" dirty="0" err="1" smtClean="0"/>
              <a:t>Estimation</a:t>
            </a:r>
            <a:r>
              <a:rPr lang="ru-RU" dirty="0" smtClean="0"/>
              <a:t> - </a:t>
            </a:r>
            <a:r>
              <a:rPr lang="ru-RU" dirty="0"/>
              <a:t>удобство использования двух (или более) вариантов </a:t>
            </a:r>
            <a:r>
              <a:rPr lang="ru-RU" dirty="0" smtClean="0"/>
              <a:t>дизайна</a:t>
            </a:r>
          </a:p>
          <a:p>
            <a:r>
              <a:rPr lang="ru-RU" dirty="0" err="1"/>
              <a:t>Cognitive</a:t>
            </a:r>
            <a:r>
              <a:rPr lang="ru-RU" dirty="0"/>
              <a:t> </a:t>
            </a:r>
            <a:r>
              <a:rPr lang="ru-RU" dirty="0" err="1" smtClean="0"/>
              <a:t>Walkthrough</a:t>
            </a:r>
            <a:r>
              <a:rPr lang="ru-RU" dirty="0" smtClean="0"/>
              <a:t> - </a:t>
            </a:r>
            <a:r>
              <a:rPr lang="ru-RU" dirty="0"/>
              <a:t>позволяет разбить все задачи пользователя на отдельные шаги и </a:t>
            </a:r>
            <a:r>
              <a:rPr lang="ru-RU" dirty="0" smtClean="0"/>
              <a:t>проанализировать</a:t>
            </a:r>
          </a:p>
          <a:p>
            <a:r>
              <a:rPr lang="ru-RU" dirty="0" err="1"/>
              <a:t>Pluralistic</a:t>
            </a:r>
            <a:r>
              <a:rPr lang="ru-RU" dirty="0"/>
              <a:t> </a:t>
            </a:r>
            <a:r>
              <a:rPr lang="ru-RU" dirty="0" err="1" smtClean="0"/>
              <a:t>Walkthrough</a:t>
            </a:r>
            <a:r>
              <a:rPr lang="ru-RU" dirty="0" smtClean="0"/>
              <a:t> – групповой </a:t>
            </a:r>
            <a:r>
              <a:rPr lang="ru-RU" dirty="0" err="1"/>
              <a:t>Cognitive</a:t>
            </a:r>
            <a:r>
              <a:rPr lang="ru-RU" dirty="0"/>
              <a:t> </a:t>
            </a:r>
            <a:r>
              <a:rPr lang="ru-RU" dirty="0" err="1" smtClean="0"/>
              <a:t>Walkthrough</a:t>
            </a:r>
            <a:endParaRPr lang="ru-RU" dirty="0" smtClean="0"/>
          </a:p>
          <a:p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 smtClean="0"/>
              <a:t>Inspection</a:t>
            </a:r>
            <a:r>
              <a:rPr lang="ru-RU" dirty="0" smtClean="0"/>
              <a:t> - </a:t>
            </a:r>
            <a:r>
              <a:rPr lang="ru-RU" dirty="0"/>
              <a:t>проверяет слишком длинные последовательности на предмет их сокращения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7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Методики оценки </a:t>
            </a:r>
            <a:r>
              <a:rPr lang="ru-RU" dirty="0"/>
              <a:t>качества юзабилити-характеристик </a:t>
            </a:r>
            <a:r>
              <a:rPr lang="ru-RU" dirty="0" smtClean="0"/>
              <a:t>сайта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/>
          </a:bodyPr>
          <a:lstStyle/>
          <a:p>
            <a:pPr fontAlgn="base"/>
            <a:r>
              <a:rPr lang="ru-RU" dirty="0" err="1"/>
              <a:t>Consistency</a:t>
            </a:r>
            <a:r>
              <a:rPr lang="ru-RU" dirty="0"/>
              <a:t> </a:t>
            </a:r>
            <a:r>
              <a:rPr lang="ru-RU" dirty="0" err="1" smtClean="0"/>
              <a:t>Inspection</a:t>
            </a:r>
            <a:r>
              <a:rPr lang="ru-RU" dirty="0" smtClean="0"/>
              <a:t> – обнаружение схожих разделов и ошибок</a:t>
            </a:r>
          </a:p>
          <a:p>
            <a:pPr fontAlgn="base"/>
            <a:r>
              <a:rPr lang="ru-RU" dirty="0" err="1"/>
              <a:t>Standards</a:t>
            </a:r>
            <a:r>
              <a:rPr lang="ru-RU" dirty="0"/>
              <a:t> </a:t>
            </a:r>
            <a:r>
              <a:rPr lang="ru-RU" dirty="0" err="1" smtClean="0"/>
              <a:t>Inspection</a:t>
            </a:r>
            <a:r>
              <a:rPr lang="ru-RU" b="1" dirty="0"/>
              <a:t> </a:t>
            </a:r>
            <a:r>
              <a:rPr lang="ru-RU" b="1" dirty="0" smtClean="0"/>
              <a:t>- </a:t>
            </a:r>
            <a:r>
              <a:rPr lang="ru-RU" dirty="0" smtClean="0"/>
              <a:t>инспекция </a:t>
            </a:r>
            <a:r>
              <a:rPr lang="ru-RU" dirty="0"/>
              <a:t>всего интерфейса продукта на соответствие стандартам пользовательского </a:t>
            </a:r>
            <a:r>
              <a:rPr lang="ru-RU" dirty="0" smtClean="0"/>
              <a:t>интерфейса</a:t>
            </a:r>
          </a:p>
          <a:p>
            <a:pPr fontAlgn="base"/>
            <a:r>
              <a:rPr lang="ru-RU" dirty="0" err="1"/>
              <a:t>Formal</a:t>
            </a:r>
            <a:r>
              <a:rPr lang="ru-RU" dirty="0"/>
              <a:t> </a:t>
            </a:r>
            <a:r>
              <a:rPr lang="ru-RU" dirty="0" err="1"/>
              <a:t>Usability</a:t>
            </a:r>
            <a:r>
              <a:rPr lang="ru-RU" dirty="0"/>
              <a:t> </a:t>
            </a:r>
            <a:r>
              <a:rPr lang="ru-RU" dirty="0" err="1" smtClean="0"/>
              <a:t>Inspection</a:t>
            </a:r>
            <a:r>
              <a:rPr lang="ru-RU" dirty="0" smtClean="0"/>
              <a:t> – выявление слабых мест, </a:t>
            </a:r>
            <a:r>
              <a:rPr lang="ru-RU" dirty="0"/>
              <a:t>где теряется производительность работы пользователя</a:t>
            </a:r>
            <a:endParaRPr lang="ru-RU" b="1" dirty="0"/>
          </a:p>
          <a:p>
            <a:pPr marL="0" indent="0" fontAlgn="base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026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Пример фрагмента общего списка описания проблем из кейса “НоваКид” – сервис обучения детей английскому языку. Юзабилити-аудит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28592" cy="6842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Пример фрагмента общего списка описания проблем из кейса “НоваКид” – сервис обучения детей английскому языку. Юзабилити-аудит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8569"/>
            <a:ext cx="4752528" cy="68394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089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Пример общих оценок юзабилити-аудита по сценариям из кейса “Лаборкомплект”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648"/>
            <a:ext cx="8928992" cy="6264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48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Пример детальных оценок сценариев по метрикам из кейса “НоваКид”. Юзабилити-аудит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80" y="404664"/>
            <a:ext cx="9256300" cy="5818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82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Пример анализа потребностей из кейса “НоваКид”. Фрагмент. Юзабилити-аудит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0032"/>
            <a:ext cx="5616624" cy="6624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72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Пример общей оценки юзабилити-аудита сайта “Лаборкомплект”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964488" cy="3260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01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К плюсам юзабилити-аудита можно отнести: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>
            <a:normAutofit/>
          </a:bodyPr>
          <a:lstStyle/>
          <a:p>
            <a:pPr lvl="0" fontAlgn="base"/>
            <a:r>
              <a:rPr lang="ru-RU" sz="3600" dirty="0"/>
              <a:t>Скорость его проведения – в самом быстром варианте она делается за 7-8 дней.</a:t>
            </a:r>
          </a:p>
          <a:p>
            <a:pPr lvl="0" fontAlgn="base"/>
            <a:r>
              <a:rPr lang="ru-RU" sz="3600" dirty="0"/>
              <a:t>Относительно бюджетная цена, особенно если сравнивать с юзабилити-тестированием.</a:t>
            </a:r>
          </a:p>
          <a:p>
            <a:pPr lvl="0" fontAlgn="base"/>
            <a:r>
              <a:rPr lang="ru-RU" sz="3600" dirty="0"/>
              <a:t>Высокая детализация результатов.</a:t>
            </a:r>
          </a:p>
          <a:p>
            <a:pPr lvl="0" fontAlgn="base"/>
            <a:r>
              <a:rPr lang="ru-RU" sz="3600" dirty="0"/>
              <a:t>Не требует использования специального оборудования и сервисов</a:t>
            </a:r>
            <a:r>
              <a:rPr lang="ru-RU" sz="3600" dirty="0" smtClean="0"/>
              <a:t>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527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Минусы юзабилити-аудита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ru-RU" dirty="0"/>
              <a:t>Качество юзабилити-аудита напрямую зависит от уровня подготовки эксперта.</a:t>
            </a:r>
          </a:p>
          <a:p>
            <a:pPr lvl="0" fontAlgn="base"/>
            <a:r>
              <a:rPr lang="ru-RU" dirty="0"/>
              <a:t>Для исследования и проверки гипотез требуется привлечение реальных клиентов.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34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491</Words>
  <Application>Microsoft Office PowerPoint</Application>
  <PresentationFormat>Экран (4:3)</PresentationFormat>
  <Paragraphs>65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Тема Office</vt:lpstr>
      <vt:lpstr>Презентация PowerPoint</vt:lpstr>
      <vt:lpstr>Презентация PowerPoint</vt:lpstr>
      <vt:lpstr>Основные юзабилити-характеристики вашего сайта:</vt:lpstr>
      <vt:lpstr>Презентация PowerPoint</vt:lpstr>
      <vt:lpstr>Что можно получить в результате качественного юзабилити-аудита:</vt:lpstr>
      <vt:lpstr>Конверсия</vt:lpstr>
      <vt:lpstr>Этапы юзабилити-аудита:</vt:lpstr>
      <vt:lpstr>2. Описание кластеров целевой аудитории, цели и потребности</vt:lpstr>
      <vt:lpstr>Презентация PowerPoint</vt:lpstr>
      <vt:lpstr>Описание персонажа включает в себя:</vt:lpstr>
      <vt:lpstr>Презентация PowerPoint</vt:lpstr>
      <vt:lpstr>3. Разработка сценариев для юзабилити-аудита</vt:lpstr>
      <vt:lpstr>Презентация PowerPoint</vt:lpstr>
      <vt:lpstr>Методики оценки качества юзабилити-характеристик сайта</vt:lpstr>
      <vt:lpstr>Методики оценки качества юзабилити-характеристик сайта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 плюсам юзабилити-аудита можно отнести:</vt:lpstr>
      <vt:lpstr>Минусы юзабилити-аудита: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Типовые задачи, решаемые клиентской частью</dc:title>
  <dc:creator>Пользователь</dc:creator>
  <cp:lastModifiedBy>Пользователь</cp:lastModifiedBy>
  <cp:revision>23</cp:revision>
  <dcterms:created xsi:type="dcterms:W3CDTF">2019-09-03T07:41:23Z</dcterms:created>
  <dcterms:modified xsi:type="dcterms:W3CDTF">2023-09-05T07:37:12Z</dcterms:modified>
</cp:coreProperties>
</file>